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40f42ebcdc4bc2" /><Relationship Type="http://schemas.openxmlformats.org/officeDocument/2006/relationships/extended-properties" Target="/docProps/app.xml" Id="Ra3159bb09225495b" /><Relationship Type="http://schemas.openxmlformats.org/officeDocument/2006/relationships/officeDocument" Target="/ppt/presentation.xml" Id="R2e13a2a05c774c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4048438a944bad"/>
  </p:sldMasterIdLst>
  <p:notesMasterIdLst>
    <p:notesMasterId xmlns:r="http://schemas.openxmlformats.org/officeDocument/2006/relationships" r:id="R4ccb88ff600f41dc"/>
  </p:notesMasterIdLst>
  <p:sldIdLst>
    <p:sldId xmlns:r="http://schemas.openxmlformats.org/officeDocument/2006/relationships" id="256" r:id="Rc3abe05eae2a4cce"/>
    <p:sldId xmlns:r="http://schemas.openxmlformats.org/officeDocument/2006/relationships" id="257" r:id="R08479339d135442d"/>
    <p:sldId xmlns:r="http://schemas.openxmlformats.org/officeDocument/2006/relationships" id="258" r:id="Ra3f5582931ec4e8b"/>
    <p:sldId xmlns:r="http://schemas.openxmlformats.org/officeDocument/2006/relationships" id="259" r:id="R21b7a99d9c8d4c00"/>
    <p:sldId xmlns:r="http://schemas.openxmlformats.org/officeDocument/2006/relationships" id="260" r:id="Raf2d9a8e704b4725"/>
    <p:sldId xmlns:r="http://schemas.openxmlformats.org/officeDocument/2006/relationships" id="261" r:id="R38afe28d31ee4eaa"/>
    <p:sldId xmlns:r="http://schemas.openxmlformats.org/officeDocument/2006/relationships" id="262" r:id="R9682c04f75ce4e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cb116ca2bc4fd0" /><Relationship Type="http://schemas.openxmlformats.org/officeDocument/2006/relationships/slideMaster" Target="/ppt/slideMasters/slideMaster1.xml" Id="Rdc4048438a944bad" /><Relationship Type="http://schemas.openxmlformats.org/officeDocument/2006/relationships/notesMaster" Target="/ppt/notesMasters/notesMaster1.xml" Id="R4ccb88ff600f41dc" /><Relationship Type="http://schemas.openxmlformats.org/officeDocument/2006/relationships/presProps" Target="/ppt/presProps.xml" Id="R14f85f1d2b224cc0" /><Relationship Type="http://schemas.openxmlformats.org/officeDocument/2006/relationships/tableStyles" Target="/ppt/tableStyles.xml" Id="R63958c6f7dd446cf" /><Relationship Type="http://schemas.openxmlformats.org/officeDocument/2006/relationships/slide" Target="/ppt/slides/slide1.xml" Id="Rc3abe05eae2a4cce" /><Relationship Type="http://schemas.openxmlformats.org/officeDocument/2006/relationships/slide" Target="/ppt/slides/slide2.xml" Id="R08479339d135442d" /><Relationship Type="http://schemas.openxmlformats.org/officeDocument/2006/relationships/slide" Target="/ppt/slides/slide3.xml" Id="Ra3f5582931ec4e8b" /><Relationship Type="http://schemas.openxmlformats.org/officeDocument/2006/relationships/slide" Target="/ppt/slides/slide4.xml" Id="R21b7a99d9c8d4c00" /><Relationship Type="http://schemas.openxmlformats.org/officeDocument/2006/relationships/slide" Target="/ppt/slides/slide5.xml" Id="Raf2d9a8e704b4725" /><Relationship Type="http://schemas.openxmlformats.org/officeDocument/2006/relationships/slide" Target="/ppt/slides/slide6.xml" Id="R38afe28d31ee4eaa" /><Relationship Type="http://schemas.openxmlformats.org/officeDocument/2006/relationships/slide" Target="/ppt/slides/slide7.xml" Id="R9682c04f75ce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890ea3e0041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9dc88c903a40c4" /><Relationship Type="http://schemas.openxmlformats.org/officeDocument/2006/relationships/notesMaster" Target="/ppt/notesMasters/notesMaster1.xml" Id="R7a5624869f5c4a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8b5724c2264cd0" /><Relationship Type="http://schemas.openxmlformats.org/officeDocument/2006/relationships/notesMaster" Target="/ppt/notesMasters/notesMaster1.xml" Id="R317038a940bf49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449151f5954661" /><Relationship Type="http://schemas.openxmlformats.org/officeDocument/2006/relationships/notesMaster" Target="/ppt/notesMasters/notesMaster1.xml" Id="R6d86fab0ada04e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cfd5eaaf2648f9" /><Relationship Type="http://schemas.openxmlformats.org/officeDocument/2006/relationships/notesMaster" Target="/ppt/notesMasters/notesMaster1.xml" Id="Raca7e7dc410345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edce483fc64029" /><Relationship Type="http://schemas.openxmlformats.org/officeDocument/2006/relationships/notesMaster" Target="/ppt/notesMasters/notesMaster1.xml" Id="Rcb4f036754b940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c729350ee0446b" /><Relationship Type="http://schemas.openxmlformats.org/officeDocument/2006/relationships/notesMaster" Target="/ppt/notesMasters/notesMaster1.xml" Id="Ra91f775320b349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7fd9dd415b414b" /><Relationship Type="http://schemas.openxmlformats.org/officeDocument/2006/relationships/notesMaster" Target="/ppt/notesMasters/notesMaster1.xml" Id="Rb753faef8a4d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258c8589645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e2f8bbaebc45cf" /><Relationship Type="http://schemas.openxmlformats.org/officeDocument/2006/relationships/slideLayout" Target="/ppt/slideLayouts/slideLayout1.xml" Id="R662110b4573f4f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110b4573f4f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a536a4f7c4193" /><Relationship Type="http://schemas.openxmlformats.org/officeDocument/2006/relationships/notesSlide" Target="/ppt/notesSlides/notesSlide1.xml" Id="Rc5ced538e2c745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af530f16c41a2" /><Relationship Type="http://schemas.openxmlformats.org/officeDocument/2006/relationships/notesSlide" Target="/ppt/notesSlides/notesSlide2.xml" Id="R326fdba46dbe46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885a994e34962" /><Relationship Type="http://schemas.openxmlformats.org/officeDocument/2006/relationships/notesSlide" Target="/ppt/notesSlides/notesSlide3.xml" Id="R714fcbb16ccf45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a4109123a49d5" /><Relationship Type="http://schemas.openxmlformats.org/officeDocument/2006/relationships/notesSlide" Target="/ppt/notesSlides/notesSlide4.xml" Id="R73504101366f40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4bb3c7de8477b" /><Relationship Type="http://schemas.openxmlformats.org/officeDocument/2006/relationships/notesSlide" Target="/ppt/notesSlides/notesSlide5.xml" Id="Rb78dd88bbe8443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ce49d721942ef" /><Relationship Type="http://schemas.openxmlformats.org/officeDocument/2006/relationships/notesSlide" Target="/ppt/notesSlides/notesSlide6.xml" Id="R15768ff023c14a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50c3b68944d46" /><Relationship Type="http://schemas.openxmlformats.org/officeDocument/2006/relationships/notesSlide" Target="/ppt/notesSlides/notesSlide7.xml" Id="Rb66e40684fa847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C887D-3F10-4B6D-ACB1-74944B0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ORIENS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78DC8-272A-416A-96E2-A3EE4922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C4DFF"/>
                </a:solidFill>
              </a:defRPr>
            </a:pPr>
            <a:r>
              <a:rPr sz="750" b="1">
                <a:solidFill>
                  <a:srgbClr val="7C4DFF"/>
                </a:solidFill>
              </a:rPr>
              <a:t>Covered Call Intelligence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E9288-095D-4EAB-8044-351ED56D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TITLE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CC608-B7C4-4A4B-9F69-A80954C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6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6FFF"/>
                </a:solidFill>
              </a:defRPr>
            </a:pPr>
            <a:r>
              <a:rPr sz="825" b="1">
                <a:solidFill>
                  <a:srgbClr val="1D6FFF"/>
                </a:solidFill>
              </a:rPr>
              <a:t>Slide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0CC85-A58C-46A2-B512-80EA3599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9E2B8-8E6E-4EB5-B43A-0669B9C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93420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8B293-7298-401C-9089-207DC98B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62050"/>
            <a:ext cx="3810000" cy="476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AF004-EE19-41C1-9857-E8AF5110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172A"/>
                </a:solidFill>
              </a:defRPr>
            </a:pPr>
            <a:r>
              <a:rPr sz="3450" b="1">
                <a:solidFill>
                  <a:srgbClr val="0F172A"/>
                </a:solidFill>
              </a:rPr>
              <a:t>ORIENS Covered Call 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ACB1F-EE28-4CA4-9CCE-8997B3B8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571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085"/>
                </a:solidFill>
              </a:defRPr>
            </a:pPr>
            <a:r>
              <a:rPr sz="1650">
                <a:solidFill>
                  <a:srgbClr val="667085"/>
                </a:solidFill>
              </a:rPr>
              <a:t>A broker-connected covered-call tracking and execution platform for ultra-HNI traders, prop operators, and serious premium-income portfolios.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003D5-9236-46F9-A955-A7DE2B01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733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D4723-7D66-4B0E-AC82-BAF68FE2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8125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6FFF"/>
                </a:solidFill>
              </a:defRPr>
            </a:pPr>
            <a:r>
              <a:rPr sz="825" b="1">
                <a:solidFill>
                  <a:srgbClr val="1D6FFF"/>
                </a:solidFill>
              </a:rPr>
              <a:t>Trading stack already built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ACA18-341B-4A92-A594-784FE709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43350"/>
            <a:ext cx="1733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FBAD1-EF3E-4B47-9AFD-F85739D4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48125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6FFF"/>
                </a:solidFill>
              </a:defRPr>
            </a:pPr>
            <a:r>
              <a:rPr sz="825" b="1">
                <a:solidFill>
                  <a:srgbClr val="1D6FFF"/>
                </a:solidFill>
              </a:rPr>
              <a:t>Covered-call layer 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9D47F-9496-43A1-8A2E-10495F3B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1733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0CCFE-D736-4C90-A5A4-87B4588F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48125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6FFF"/>
                </a:solidFill>
              </a:defRPr>
            </a:pPr>
            <a:r>
              <a:rPr sz="825" b="1">
                <a:solidFill>
                  <a:srgbClr val="1D6FFF"/>
                </a:solidFill>
              </a:rPr>
              <a:t>Portfolio + execution +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6F0D3-5301-41F3-8171-ED0D88C8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Presenter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FD58F-CEDB-4EBC-B9F0-B66A13C6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Ankit Sharma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F7F81-E356-4FAB-BD3D-3BE798ED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47800"/>
            <a:ext cx="32766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67C23-F3F7-4261-A305-752143C4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CORE VALUE PROPOSITION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A43F6-3E51-4D0D-8B61-9DB5DAA3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B8D9"/>
                </a:solidFill>
              </a:defRPr>
            </a:pPr>
            <a:r>
              <a:rPr sz="2100" b="1">
                <a:solidFill>
                  <a:srgbClr val="00B8D9"/>
                </a:solidFill>
              </a:rPr>
              <a:t>Own stock. Sell calls. Systematize income.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FE5D4-4BB1-4316-9774-9218938E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Turn a live trading system into a covered-call operating platform.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7B8B7-2FC5-47E3-83FE-35E9DE41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32766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593D7-4D68-4E19-8448-29DBED90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CURRENT 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53159-B748-40F4-A526-49080FE2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Trading system foundation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F5440-D377-40FD-83B5-FA0D0C49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Live market data, positions, order surfaces, broker workflows, and options tooling already exist.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3F2AA1-A9AF-480C-82E5-91D2881D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62400"/>
            <a:ext cx="32766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FD2A3B-7FA8-4D20-AA1B-E0068185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33850"/>
            <a:ext cx="289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NEXT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58038-1B1D-4E30-AC9A-DE359CD6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4DFF"/>
                </a:solidFill>
              </a:defRPr>
            </a:pPr>
            <a:r>
              <a:rPr sz="2100" b="1">
                <a:solidFill>
                  <a:srgbClr val="7C4DFF"/>
                </a:solidFill>
              </a:rPr>
              <a:t>Covered-call intelligence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F99E3D-CED4-4341-8189-2DD2F045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Add holdings mapping, premium ledger, yield analytics, expiry alerts, and rule-based execution.</a:t>
            </a:r>
          </a:p>
        </p:txBody>
      </p:sp>
    </p:spTree>
    <p:extLst>
      <p:ext uri="{BB962C8B-B14F-4D97-AF65-F5344CB8AC3E}">
        <p14:creationId xmlns:p14="http://schemas.microsoft.com/office/powerpoint/2010/main" val="834230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0A9226-CD55-4A75-B0B5-0D937AC5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ORIENS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17995-88B3-40E4-B799-83CD5EAF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C4DFF"/>
                </a:solidFill>
              </a:defRPr>
            </a:pPr>
            <a:r>
              <a:rPr sz="750" b="1">
                <a:solidFill>
                  <a:srgbClr val="7C4DFF"/>
                </a:solidFill>
              </a:rPr>
              <a:t>Covered Call Intelligence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18B51-74E1-4BEB-B310-30A02345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PROBLEM AND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A71FF-F217-4E5D-B87B-38779D33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6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6FFF"/>
                </a:solidFill>
              </a:defRPr>
            </a:pPr>
            <a:r>
              <a:rPr sz="825" b="1">
                <a:solidFill>
                  <a:srgbClr val="1D6FFF"/>
                </a:solidFill>
              </a:rPr>
              <a:t>Slide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E36F6-1261-4A60-897A-64FF3A51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6EA3D-E6C6-46C1-842C-A6E4924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219700" cy="52387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4A3DC-6CE1-408B-B161-B812E7D3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104900"/>
            <a:ext cx="5524500" cy="52387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51B61-7242-44E1-81EF-1CAB0782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B7AE7-9092-4687-ABA9-177E6D2E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0332A-78F3-4162-A506-B7C5FCD7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Holdings, sold calls, premium, and assignment risk usually live across separate screens.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B0873-1D5C-418A-9538-AE95C123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F6441-A263-45B2-ADD4-FBB08421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Most broker terminals are execution-first, not covered-call portfolio-first.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A31BE-36BE-4B5C-A89A-B4545FF3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9696D-05EB-4377-8AA3-A0D9A3B0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Existing tools rarely combine yield analytics, live execution, and roll workflow in one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E5C8E-15C2-4E32-8675-C024F082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9E3F3-0614-448D-8A12-71EF52B4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Manual monitoring becomes fragile as position count and capital size increase.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DF56E-D788-45B4-9F2F-91A6A121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The solution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7780B-82E4-4666-8575-01909BFB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00ED4-B9F5-406D-9495-99E25998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8595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Dedicated covered-call dashboard with covered value, uncovered value, premium, and expiry pressure.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118E8-C300-4507-8660-B464B845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4BE9B-7249-42EA-A12D-6BD26E69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Yield engine that compares premium income to capital blocked and assignment risk.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6903E-7621-4A76-9AA7-5935A11A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BFB09-F1E8-4E8F-BBF6-06708564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Action panel for roll candidates, expiry alerts, and fresh call-selling opportunities.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85BE3-6419-4B77-8C80-D15AB147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4BF0B-F3D8-4ACB-9795-6DF551BC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Broker-connected execution layer instead of spreadsheet-driven decision making.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5E09C7-BE06-4B51-A767-0FBFD572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495300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BEA0A-70F8-4D11-AD60-0CA62D76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8625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WHAT ORIENS ADDS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A33E9F-EA38-41AA-B793-48AFCE35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52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6FFF"/>
                </a:solidFill>
              </a:defRPr>
            </a:pPr>
            <a:r>
              <a:rPr sz="2100" b="1">
                <a:solidFill>
                  <a:srgbClr val="1D6FFF"/>
                </a:solidFill>
              </a:rPr>
              <a:t>Portfolio intelligence on top of 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7883B-A304-4507-87DB-02CAECCD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530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Current ORIENS base: live market data, order surfaces, positions, and options tools.</a:t>
            </a:r>
          </a:p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Next layer: covered holdings map, yield analytics, premium history, roll actions.</a:t>
            </a:r>
          </a:p>
        </p:txBody>
      </p:sp>
    </p:spTree>
    <p:extLst>
      <p:ext uri="{BB962C8B-B14F-4D97-AF65-F5344CB8AC3E}">
        <p14:creationId xmlns:p14="http://schemas.microsoft.com/office/powerpoint/2010/main" val="1303102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0191A6-B724-4CCD-B51F-A21B04A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ORIENS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E5034-19DD-4862-B0D7-72715C95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C4DFF"/>
                </a:solidFill>
              </a:defRPr>
            </a:pPr>
            <a:r>
              <a:rPr sz="750" b="1">
                <a:solidFill>
                  <a:srgbClr val="7C4DFF"/>
                </a:solidFill>
              </a:rPr>
              <a:t>Covered Call Intelligence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6D1F6-90C3-49A2-88FE-26DC0C34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DIFFERENTIATION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D804F-122F-4EFB-A22B-F3791ABF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6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6FFF"/>
                </a:solidFill>
              </a:defRPr>
            </a:pPr>
            <a:r>
              <a:rPr sz="825" b="1">
                <a:solidFill>
                  <a:srgbClr val="1D6FFF"/>
                </a:solidFill>
              </a:rPr>
              <a:t>Slide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58C99-D1E4-44B6-9696-94727D95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13F60-6298-42F6-BA3F-B8652A89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Why ORIENS wins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D5339-7FD8-4514-8803-F56D6F32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909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04027-E9EF-4603-B297-E0ED537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Workflow-native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8C510-A973-44E9-8023-C47F9BAE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89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8"/>
                </a:solidFill>
              </a:defRPr>
            </a:pPr>
            <a:r>
              <a:rPr sz="1275">
                <a:solidFill>
                  <a:srgbClr val="101828"/>
                </a:solidFill>
              </a:rPr>
              <a:t>Designed around covered inventory, premium streams, strike distance, expiry pressure, and assignment management.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C1E4B-1563-44C3-B093-F8A0DBAE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3909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8B1ED-E09E-4E53-BA59-779D6B4B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6FFF"/>
                </a:solidFill>
              </a:defRPr>
            </a:pPr>
            <a:r>
              <a:rPr sz="1800" b="1">
                <a:solidFill>
                  <a:srgbClr val="1D6FFF"/>
                </a:solidFill>
              </a:rPr>
              <a:t>Analytics +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ACC43-C535-4CCF-A999-54DBFEE3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89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8"/>
                </a:solidFill>
              </a:defRPr>
            </a:pPr>
            <a:r>
              <a:rPr sz="1275">
                <a:solidFill>
                  <a:srgbClr val="101828"/>
                </a:solidFill>
              </a:rPr>
              <a:t>Combines Born To Sell style opportunity logic with live broker connectivity and operator-grade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93CAD-FCF3-4B9F-BCDE-B5A3EF9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3909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56BA-B01D-4AA5-BB23-D695257B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4DFF"/>
                </a:solidFill>
              </a:defRPr>
            </a:pPr>
            <a:r>
              <a:rPr sz="1800" b="1">
                <a:solidFill>
                  <a:srgbClr val="7C4DFF"/>
                </a:solidFill>
              </a:rPr>
              <a:t>Built on real 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7DE97-CA79-4FF8-A44C-6B118FEA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89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8"/>
                </a:solidFill>
              </a:defRPr>
            </a:pPr>
            <a:r>
              <a:rPr sz="1275">
                <a:solidFill>
                  <a:srgbClr val="101828"/>
                </a:solidFill>
              </a:rPr>
              <a:t>Not a pitch from zero. The trading foundation already exists: live data, options surfaces, positions, and strategy tooling.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A19EB-AEF6-4525-8544-61FB9EBD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2CBDB-D2E4-44C2-B2B6-D91900FC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Core UX principles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4414A-B710-4DF6-ACAB-A7B12313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2C690-3961-4AC4-8473-F3266C5B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954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8"/>
                </a:solidFill>
              </a:defRPr>
            </a:pPr>
            <a:r>
              <a:rPr sz="1200">
                <a:solidFill>
                  <a:srgbClr val="101828"/>
                </a:solidFill>
              </a:rPr>
              <a:t>Always show uncovered holdings, expiring calls, and roll urgency first.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3B0B6-6D46-47BD-873E-7A1F6B24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2AC55-E397-47F3-80DF-88CB4331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954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8"/>
                </a:solidFill>
              </a:defRPr>
            </a:pPr>
            <a:r>
              <a:rPr sz="1200">
                <a:solidFill>
                  <a:srgbClr val="101828"/>
                </a:solidFill>
              </a:rPr>
              <a:t>Keep premium, yield, and assignment risk visible without opening secondary panels.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52748-C43D-44F5-BA26-D9005509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DFAA26-BE90-4567-8C4A-2B6BDD15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34050"/>
            <a:ext cx="954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8"/>
                </a:solidFill>
              </a:defRPr>
            </a:pPr>
            <a:r>
              <a:rPr sz="1200">
                <a:solidFill>
                  <a:srgbClr val="101828"/>
                </a:solidFill>
              </a:rPr>
              <a:t>Execution feedback must be explicit: placed, pending, rolled, expired, or assigned.</a:t>
            </a:r>
          </a:p>
        </p:txBody>
      </p:sp>
    </p:spTree>
    <p:extLst>
      <p:ext uri="{BB962C8B-B14F-4D97-AF65-F5344CB8AC3E}">
        <p14:creationId xmlns:p14="http://schemas.microsoft.com/office/powerpoint/2010/main" val="460834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D7E143-D036-4AEE-9163-6F7B41B1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ORIENS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AF003-2263-4B87-80D3-902DEFEE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C4DFF"/>
                </a:solidFill>
              </a:defRPr>
            </a:pPr>
            <a:r>
              <a:rPr sz="750" b="1">
                <a:solidFill>
                  <a:srgbClr val="7C4DFF"/>
                </a:solidFill>
              </a:rPr>
              <a:t>Covered Call Intelligence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80142-B6E7-4829-BB1F-F8C78347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MARKET OPPORTUNITY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E67F8-251F-4FE1-B897-08E4A449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6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6FFF"/>
                </a:solidFill>
              </a:defRPr>
            </a:pPr>
            <a:r>
              <a:rPr sz="825" b="1">
                <a:solidFill>
                  <a:srgbClr val="1D6FFF"/>
                </a:solidFill>
              </a:rPr>
              <a:t>Slide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91CDB-F1F0-47C0-B2E1-3C1B6E64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AB6C5-CD18-478E-9903-8ECF9F30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334000" cy="51054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1070F-5892-4144-BF6C-06ED5CE8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23950"/>
            <a:ext cx="5410200" cy="51054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F5684-889D-46AD-9427-F0266BE2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Why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7501B-A220-4B97-A809-EAB721A3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468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India’s active derivatives participation, HNI use of options income strategies, and the lack of specialized covered-call operating software create a high-value niche right now.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82150-FF64-4BDE-B361-D6D11F39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TAM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F1C2D-12EF-41FB-BABF-8D680060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3429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688CF-1BF7-456D-AD31-05004BB0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315468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04EFC-E194-4036-B46D-248F9F00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D6FFF"/>
                </a:solidFill>
              </a:defRPr>
            </a:pPr>
            <a:r>
              <a:rPr sz="900" b="1">
                <a:solidFill>
                  <a:srgbClr val="1D6FFF"/>
                </a:solidFill>
              </a:rPr>
              <a:t>92%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47548-915E-4717-B4F2-E2F598F9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47F42-31AA-44CB-AF07-E24874E2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762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F16A7-B9BC-4AD5-AD02-65304D0A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98882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7F902-0EF7-4DE7-A09E-667A13ED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29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B8D9"/>
                </a:solidFill>
              </a:defRPr>
            </a:pPr>
            <a:r>
              <a:rPr sz="900" b="1">
                <a:solidFill>
                  <a:srgbClr val="00B8D9"/>
                </a:solidFill>
              </a:rPr>
              <a:t>72%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D600F-940F-482D-A4BC-70B4928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767A4-2F04-4F16-B1D9-BC2F737B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BA271-E103-429B-890C-54936FBF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663893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4DFF"/>
          </a:solidFill>
          <a:ln xmlns:a="http://schemas.openxmlformats.org/drawingml/2006/main" w="9525">
            <a:solidFill>
              <a:srgbClr val="7C4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3C484-5207-4EA9-BD1E-91C904C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958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C4DFF"/>
                </a:solidFill>
              </a:defRPr>
            </a:pPr>
            <a:r>
              <a:rPr sz="900" b="1">
                <a:solidFill>
                  <a:srgbClr val="7C4DFF"/>
                </a:solidFill>
              </a:rPr>
              <a:t>41%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EAF98-D171-48FE-A79F-3BB94EEE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  <a:r>
              <a:rPr sz="1125">
                <a:solidFill>
                  <a:srgbClr val="101828"/>
                </a:solidFill>
              </a:rPr>
              <a:t>TAM: broad active Indian equity and derivatives investor base</a:t>
            </a:r>
          </a:p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  <a:r>
              <a:rPr sz="1125">
                <a:solidFill>
                  <a:srgbClr val="101828"/>
                </a:solidFill>
              </a:rPr>
              <a:t>SAM: HNIs, covered-call investors, prop-style operators, and advisory products</a:t>
            </a:r>
          </a:p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  <a:r>
              <a:rPr sz="1125">
                <a:solidFill>
                  <a:srgbClr val="101828"/>
                </a:solidFill>
              </a:rPr>
              <a:t>SOM: users who value custom workflow, execution, and full-stack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02BB7-8561-47A0-BEBD-EC6AC14D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28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Business model and pricing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29AE2-C831-4030-A9EE-4BC0A4BC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48768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C4BD8-79EC-431D-AD5B-92818D4A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449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CONTRACT PRICING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D526E-3C07-49D7-8B8F-3D89D253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B76A"/>
                </a:solidFill>
              </a:defRPr>
            </a:pPr>
            <a:r>
              <a:rPr sz="2100" b="1">
                <a:solidFill>
                  <a:srgbClr val="12B76A"/>
                </a:solidFill>
              </a:rPr>
              <a:t>₹3,00,000 flat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278EB8-2E40-4C9D-AA96-13A39773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Includes 1 year of full-time support and product changes/additions within agreed scope.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565794-D207-455E-86AC-59548C7E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23431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FCD82-37F2-4A5D-8263-B68500B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14750"/>
            <a:ext cx="1962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WHO THIS FITS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4851F2-37E6-4E18-8B23-A0EEB872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81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Ultra-HNI desks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825B75-A096-4998-A89A-CE07BC39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5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Private operators</a:t>
            </a:r>
          </a:p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Family-office style users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0400E8-19F6-4C1D-A854-E9D198B9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43300"/>
            <a:ext cx="23431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85079E-20A2-468C-A0AB-1270C2E3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14750"/>
            <a:ext cx="1962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SALES ARGUMENT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097998-0E04-4231-942B-2F5849A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81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6FFF"/>
                </a:solidFill>
              </a:defRPr>
            </a:pPr>
            <a:r>
              <a:rPr sz="2100" b="1">
                <a:solidFill>
                  <a:srgbClr val="1D6FFF"/>
                </a:solidFill>
              </a:rPr>
              <a:t>High trust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246933-27C2-496B-B759-21E4EBAD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Custom changes covered</a:t>
            </a:r>
          </a:p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Execution-oriented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CD5876-AA37-426E-BA19-D0B09789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48768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8CD594-925E-4D69-90A3-3AF3B7EC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33950"/>
            <a:ext cx="449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POSITIONING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23BC7D-0D10-433E-A314-F14D860E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006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4DFF"/>
                </a:solidFill>
              </a:defRPr>
            </a:pPr>
            <a:r>
              <a:rPr sz="2100" b="1">
                <a:solidFill>
                  <a:srgbClr val="7C4DFF"/>
                </a:solidFill>
              </a:rPr>
              <a:t>Not another broker dashboard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3523AF-E0E7-41DE-9777-5B50CEF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673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ORIENS helps run a covered-call business process, not just place option orders.</a:t>
            </a:r>
          </a:p>
        </p:txBody>
      </p:sp>
    </p:spTree>
    <p:extLst>
      <p:ext uri="{BB962C8B-B14F-4D97-AF65-F5344CB8AC3E}">
        <p14:creationId xmlns:p14="http://schemas.microsoft.com/office/powerpoint/2010/main" val="2141341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4F93CB-B05E-4CC1-B3E6-2B4A33C7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ORIENS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3B884-742A-4862-A875-96EBFF8A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C4DFF"/>
                </a:solidFill>
              </a:defRPr>
            </a:pPr>
            <a:r>
              <a:rPr sz="750" b="1">
                <a:solidFill>
                  <a:srgbClr val="7C4DFF"/>
                </a:solidFill>
              </a:rPr>
              <a:t>Covered Call Intelligence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415E6-47B3-4789-87F6-35B884BF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IMPLEMENTATION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696CF-094A-4E53-AB5A-A5394AC4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6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6FFF"/>
                </a:solidFill>
              </a:defRPr>
            </a:pPr>
            <a:r>
              <a:rPr sz="825" b="1">
                <a:solidFill>
                  <a:srgbClr val="1D6FFF"/>
                </a:solidFill>
              </a:rPr>
              <a:t>Slide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0B68D-BA69-4466-B36B-4183070E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0C01D-ED45-462D-B1E1-4C22CA45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Deployment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03B7C-5039-44B8-8CD2-1B387708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05918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1EF82-172C-4A7E-98F0-553DF893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6FFF"/>
                </a:solidFill>
              </a:defRPr>
            </a:pPr>
            <a:r>
              <a:rPr sz="2100" b="1">
                <a:solidFill>
                  <a:srgbClr val="1D6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5E4FB-9B67-4C40-9386-A50EBE5B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Map data 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47CF3-BC81-44CC-9C0D-A858C5A8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Normalize holdings, contract specs, sold-call positions, and premium history into one covered-call book.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B91ED-A897-4999-9279-90618699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05918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26B3D-1200-4129-A44A-FB2C6848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6FFF"/>
                </a:solidFill>
              </a:defRPr>
            </a:pPr>
            <a:r>
              <a:rPr sz="2100" b="1">
                <a:solidFill>
                  <a:srgbClr val="1D6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16D06-DF77-4F90-BF11-83C3E23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86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Launch dashboard + yield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93121-C6EE-4E3F-8E47-3570DB2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718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Expose coverage, yield, expiries, strike distance, premium ledger, and opportunity suggestions.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50A64-6EFD-46B2-859A-B766BA8E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84341-5664-40E0-B0FF-030BA1B1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6FFF"/>
                </a:solidFill>
              </a:defRPr>
            </a:pPr>
            <a:r>
              <a:rPr sz="2100" b="1">
                <a:solidFill>
                  <a:srgbClr val="1D6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7BA46-329E-4557-A51F-A94D7FCC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Add rule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49324-4A91-4C7C-BE5F-37BA7469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Support %OTM, yield-on-margin, utilization, timing rules, and decision filters.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2E295-C18A-4F13-B787-84ADF662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5918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99822-A6FB-49E0-9DCC-D85F36B4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6FFF"/>
                </a:solidFill>
              </a:defRPr>
            </a:pPr>
            <a:r>
              <a:rPr sz="2100" b="1">
                <a:solidFill>
                  <a:srgbClr val="1D6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A3B11-6D3D-4C55-80DF-D93B2B1F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Enable guided execution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8BAFB-8C34-44E3-8E49-1B61745F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Route approved sell/roll actions through broker-connected workflows with audit visibility.</a:t>
            </a:r>
          </a:p>
        </p:txBody>
      </p:sp>
    </p:spTree>
    <p:extLst>
      <p:ext uri="{BB962C8B-B14F-4D97-AF65-F5344CB8AC3E}">
        <p14:creationId xmlns:p14="http://schemas.microsoft.com/office/powerpoint/2010/main" val="454314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022FC5-5433-43D5-AC71-1C2A16BF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ORIENS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59899-A710-411B-8665-5B95B971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C4DFF"/>
                </a:solidFill>
              </a:defRPr>
            </a:pPr>
            <a:r>
              <a:rPr sz="750" b="1">
                <a:solidFill>
                  <a:srgbClr val="7C4DFF"/>
                </a:solidFill>
              </a:rPr>
              <a:t>Covered Call Intelligence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27DE5-A510-40D9-9DBD-115A3019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TEAM AND EXPERTISE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8BB53-D5E2-45C7-A6A3-A63CCAA7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6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6FFF"/>
                </a:solidFill>
              </a:defRPr>
            </a:pPr>
            <a:r>
              <a:rPr sz="825" b="1">
                <a:solidFill>
                  <a:srgbClr val="1D6FFF"/>
                </a:solidFill>
              </a:rPr>
              <a:t>Slide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FBF55-650C-4592-A48B-09BE1697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3388A-B6A0-4F8E-A415-B1FA8990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19665-519A-47C1-AEAA-4D1113E8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143000"/>
            <a:ext cx="575310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3F305-2A6D-4A26-AAB8-D933AAEB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Built lean, with strong systems thinking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05F2D-7CD9-46E6-8758-82D74474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095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085"/>
                </a:solidFill>
              </a:defRPr>
            </a:pPr>
            <a:r>
              <a:rPr sz="1425">
                <a:solidFill>
                  <a:srgbClr val="667085"/>
                </a:solidFill>
              </a:rPr>
              <a:t>Solo-built with the help of AI models and better system design concepts, on top of a real trading dashboard foundation already handling live data, options tooling, latency hardening, and broker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0C3AE-0D3A-4E33-ABA5-1AF4CBAD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381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12BE4-9D65-4A66-9376-5F5CF6B9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EXECUTION CREDIBILITY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37960-F651-4CE5-A386-EFC42033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B76A"/>
                </a:solidFill>
              </a:defRPr>
            </a:pPr>
            <a:r>
              <a:rPr sz="2100" b="1">
                <a:solidFill>
                  <a:srgbClr val="12B76A"/>
                </a:solidFill>
              </a:rPr>
              <a:t>Already evolving from a live 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854EB-8262-4531-BA6A-4A2C9869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This is a product extension plan, not a greenfield concept with no implementation base.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78748-746E-4F99-BF4A-91DBDC4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Current technical 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31125-CFCB-4AFF-8E82-12283EA4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9F5DD-E8CE-492B-AF1C-2CC698F3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478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Live market data and websocket-backed dashboard surfaces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6C24A-865C-43CB-BC75-CF90F605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C696D-3A3B-43BB-B8A1-DDEEC5CB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478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Positions, orderbook, tradebook, option chain, OI tracker, and strategy tooling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1E222-CFAB-4E49-AC52-509ACB0A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024DA-827C-4D8C-9EF4-6C50E35A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478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Broker workflow foundation and latency-hardening already in place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FEB6C-BF1E-449C-8CD9-B00BF5FE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FF"/>
          </a:solidFill>
          <a:ln xmlns:a="http://schemas.openxmlformats.org/drawingml/2006/main" w="9525">
            <a:solidFill>
              <a:srgbClr val="1D6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09D88-B497-4E97-A42C-D0B53C2F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478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Reusable architecture for portfolio intelligence, alerts, and execution rules</a:t>
            </a:r>
          </a:p>
        </p:txBody>
      </p:sp>
    </p:spTree>
    <p:extLst>
      <p:ext uri="{BB962C8B-B14F-4D97-AF65-F5344CB8AC3E}">
        <p14:creationId xmlns:p14="http://schemas.microsoft.com/office/powerpoint/2010/main" val="984809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8AA6B9-DCC8-4426-B24D-CEB5B421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ORIENS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B84D0-4E42-41E1-88BA-2DF17ED2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C4DFF"/>
                </a:solidFill>
              </a:defRPr>
            </a:pPr>
            <a:r>
              <a:rPr sz="750" b="1">
                <a:solidFill>
                  <a:srgbClr val="7C4DFF"/>
                </a:solidFill>
              </a:rPr>
              <a:t>Covered Call Intelligence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4ADC2-F8EA-40BF-920A-B30E1713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CONCLUSION AND CTA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DD3DD-20E2-4444-8768-549FFA15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6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6FFF"/>
                </a:solidFill>
              </a:defRPr>
            </a:pPr>
            <a:r>
              <a:rPr sz="825" b="1">
                <a:solidFill>
                  <a:srgbClr val="1D6FFF"/>
                </a:solidFill>
              </a:rPr>
              <a:t>Slide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6BD79-0CEB-4AFA-8DC2-3954B61F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ED6AC-4591-49A7-B55C-0FB88533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0" cy="4381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C93C8-3CC0-48F2-9084-FF29632F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257300"/>
            <a:ext cx="3848100" cy="43815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4BAB7-0626-458B-BBF2-CB428856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opportunity is clear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CA8EF-CA94-46F1-8B6D-E69046AB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085"/>
                </a:solidFill>
              </a:defRPr>
            </a:pPr>
            <a:r>
              <a:rPr sz="1575">
                <a:solidFill>
                  <a:srgbClr val="667085"/>
                </a:solidFill>
              </a:rPr>
              <a:t>ORIENS can become a differentiated covered-call platform by adding the missing portfolio intelligence layer on top of the trading stack already built. The outcome is not just another terminal, but a repeatable premium-management operating system for serious capital.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95A92-8B90-46A8-9702-B5F15BE3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6FFF"/>
                </a:solidFill>
              </a:defRPr>
            </a:pPr>
            <a:r>
              <a:rPr sz="1350" b="1">
                <a:solidFill>
                  <a:srgbClr val="1D6FFF"/>
                </a:solidFill>
              </a:rPr>
              <a:t>Exact next 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7922C-7317-45B8-AD73-E81A246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Approve the covered-call MVP scope: holdings layer, premium ledger, yield analytics, expiry alerts, and roll suggestions first. Then layer rules and execution on top.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2D771-37BE-4102-B850-C4CA225A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238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95086-E4DB-4B36-B30F-5037AE2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CALL TO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EB2E7-E593-4A3C-988A-1F499207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B8D9"/>
                </a:solidFill>
              </a:defRPr>
            </a:pPr>
            <a:r>
              <a:rPr sz="2100" b="1">
                <a:solidFill>
                  <a:srgbClr val="00B8D9"/>
                </a:solidFill>
              </a:rPr>
              <a:t>Approve MVP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4CE21-A87B-40FD-856C-4B1047E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Covered holdings + premium + yield + expiry + roll layer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87A62-4763-442C-B574-F4737F69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3238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9FE78-B098-46BA-9F18-9DBF7F9B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COMMERCIAL 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7B155-0D41-45B5-972F-95ED3268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B76A"/>
                </a:solidFill>
              </a:defRPr>
            </a:pPr>
            <a:r>
              <a:rPr sz="2100" b="1">
                <a:solidFill>
                  <a:srgbClr val="12B76A"/>
                </a:solidFill>
              </a:rPr>
              <a:t>₹3 lakh fixed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C6A46-8810-4631-85DD-2F5275FF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1 year support</a:t>
            </a:r>
          </a:p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Changes/additions covered in program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EDA14-2F4C-4001-8D5D-A1C8DE4D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3238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5E93F-973E-4BAF-A433-6428D33A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POSITIONING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689D2-DCAB-4875-A95D-DDF8B48B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24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C4DFF"/>
                </a:solidFill>
              </a:defRPr>
            </a:pPr>
            <a:r>
              <a:rPr sz="2100" b="1">
                <a:solidFill>
                  <a:srgbClr val="7C4DFF"/>
                </a:solidFill>
              </a:rPr>
              <a:t>From trading terminal to covered-call OS</a:t>
            </a:r>
          </a:p>
        </p:txBody>
      </p:sp>
    </p:spTree>
    <p:extLst>
      <p:ext uri="{BB962C8B-B14F-4D97-AF65-F5344CB8AC3E}">
        <p14:creationId xmlns:p14="http://schemas.microsoft.com/office/powerpoint/2010/main" val="1992820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2026-06-20T10:28:13.6440000Z</dcterms:created>
  <dcterms:modified xsi:type="dcterms:W3CDTF">2026-06-20T10:28:13.6440000Z</dcterms:modified>
</coreProperties>
</file>